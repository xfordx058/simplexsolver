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65" r:id="rId15"/>
    <p:sldId id="285" r:id="rId16"/>
    <p:sldId id="270" r:id="rId17"/>
    <p:sldId id="271" r:id="rId18"/>
    <p:sldId id="272" r:id="rId19"/>
    <p:sldId id="273" r:id="rId20"/>
    <p:sldId id="274" r:id="rId21"/>
    <p:sldId id="275" r:id="rId22"/>
    <p:sldId id="276" r:id="rId23"/>
    <p:sldId id="277" r:id="rId24"/>
    <p:sldId id="278" r:id="rId25"/>
    <p:sldId id="286" r:id="rId26"/>
    <p:sldId id="279" r:id="rId27"/>
    <p:sldId id="280" r:id="rId28"/>
    <p:sldId id="281" r:id="rId29"/>
    <p:sldId id="282" r:id="rId30"/>
    <p:sldId id="283" r:id="rId31"/>
    <p:sldId id="28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66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EDF57-13EC-99FC-84FF-2B2BC801B9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FD8B08CB-D321-5605-843E-7CB819F242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FD589E31-2F63-27E0-7828-FEB2DC41BB22}"/>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5" name="Footer Placeholder 4">
            <a:extLst>
              <a:ext uri="{FF2B5EF4-FFF2-40B4-BE49-F238E27FC236}">
                <a16:creationId xmlns:a16="http://schemas.microsoft.com/office/drawing/2014/main" id="{CD952318-F2F4-56B9-4471-643A727F8C11}"/>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8CEDE7F-EBA3-38C5-D9A6-8F662B8FF26C}"/>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385565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83D60-C913-0940-1449-751DF008258A}"/>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217D27E6-D381-DA4B-00F2-86DA4EAF46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B776064-AC0D-1BAC-C898-6421A83625A5}"/>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5" name="Footer Placeholder 4">
            <a:extLst>
              <a:ext uri="{FF2B5EF4-FFF2-40B4-BE49-F238E27FC236}">
                <a16:creationId xmlns:a16="http://schemas.microsoft.com/office/drawing/2014/main" id="{1C612DF4-0AE6-41CF-A729-84D18340956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0D25880-4DEE-8B2E-D4DA-D57B86E4A663}"/>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3762699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C9086-A521-10BD-987A-90E675454B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79C234C3-3E07-EFC7-AB40-02CE2A6FE0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868A0B-77BC-3CB7-B94D-80FF0E1BF09F}"/>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5" name="Footer Placeholder 4">
            <a:extLst>
              <a:ext uri="{FF2B5EF4-FFF2-40B4-BE49-F238E27FC236}">
                <a16:creationId xmlns:a16="http://schemas.microsoft.com/office/drawing/2014/main" id="{21A44C10-AA83-E1A5-E109-888C47C22E4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23339FD6-46A0-CFF2-E855-B019C5BDD972}"/>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305286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50CB5-A5CF-B47F-B3AF-C5C98FEA065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98B93B9C-43F5-3998-910E-0983CBC326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4B96155B-C455-9822-5C51-E3AED4939A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523F0D85-AD08-EB81-89CD-DFD9966CB038}"/>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6" name="Footer Placeholder 5">
            <a:extLst>
              <a:ext uri="{FF2B5EF4-FFF2-40B4-BE49-F238E27FC236}">
                <a16:creationId xmlns:a16="http://schemas.microsoft.com/office/drawing/2014/main" id="{D5BEE6DD-CCC5-D2B5-F7D3-272AABA8916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504FBA3E-A83D-984F-8A64-F883BA98907F}"/>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2042212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B622B-6599-8FAD-F433-640FFB8F8027}"/>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EEED5D2A-BA98-8910-3031-FAA47F4E06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2611A5-6E9D-41D2-F5FD-77AD2AB5AF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296B357E-E6EE-A72F-239C-0EBA43ECC2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9FC654-66A2-D9BE-0C5C-9DA582E86E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78B11C28-79C3-7807-C73E-846235DE1BCF}"/>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8" name="Footer Placeholder 7">
            <a:extLst>
              <a:ext uri="{FF2B5EF4-FFF2-40B4-BE49-F238E27FC236}">
                <a16:creationId xmlns:a16="http://schemas.microsoft.com/office/drawing/2014/main" id="{C2563B2C-07FE-0952-6F8B-6EB57F129D17}"/>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7EC18B26-773D-59C5-B906-8F192BC0B1B4}"/>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1604959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A7ED1-CFC9-F80C-4549-2B397C91440B}"/>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C97827A4-7CBE-31A2-C6BC-BB3E719E91F2}"/>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4" name="Footer Placeholder 3">
            <a:extLst>
              <a:ext uri="{FF2B5EF4-FFF2-40B4-BE49-F238E27FC236}">
                <a16:creationId xmlns:a16="http://schemas.microsoft.com/office/drawing/2014/main" id="{04179A40-B33F-5339-1BCE-235C3DFBE7F8}"/>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DA721918-FD41-C197-0F80-5BFC534DD665}"/>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263215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49B4F4-A387-DCAF-F78B-074EB00DC684}"/>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3" name="Footer Placeholder 2">
            <a:extLst>
              <a:ext uri="{FF2B5EF4-FFF2-40B4-BE49-F238E27FC236}">
                <a16:creationId xmlns:a16="http://schemas.microsoft.com/office/drawing/2014/main" id="{36B5EDBE-65CC-E55E-704F-953A53E680D4}"/>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AA3EBB4B-7418-CEB4-ECCE-4F5B2B975A21}"/>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2903567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93DBB-ED3D-B8CF-833D-C5E152CF93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61DED65C-D642-0218-35B2-90D9C4C7E9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4BEC05C5-F43B-2365-A8BE-A8350E7CA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3E886A-985C-4ADE-8CC0-2178BD76CFFB}"/>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6" name="Footer Placeholder 5">
            <a:extLst>
              <a:ext uri="{FF2B5EF4-FFF2-40B4-BE49-F238E27FC236}">
                <a16:creationId xmlns:a16="http://schemas.microsoft.com/office/drawing/2014/main" id="{0BC50F64-45B7-0BB4-2DF0-79D6EF0191EE}"/>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4FC0384-CEF3-9F64-0A9D-2D28FE1B34B5}"/>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4109730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567EF-1C3B-2096-373F-1F5BBC2A26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0BB95474-823C-CA0D-EE35-CB60759215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45770890-B239-3A64-5281-05F62EDD7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3FD479-EAB5-310B-2C03-271EC8AD6A29}"/>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6" name="Footer Placeholder 5">
            <a:extLst>
              <a:ext uri="{FF2B5EF4-FFF2-40B4-BE49-F238E27FC236}">
                <a16:creationId xmlns:a16="http://schemas.microsoft.com/office/drawing/2014/main" id="{29A12557-827B-9534-E11F-D3096D77CDF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346ECDEA-811E-9233-02EE-1C70F01E7FB8}"/>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3028414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E8310-D840-C351-F5EE-633C892661D3}"/>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A6D91242-969F-8180-4A55-492677A19F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87B1FC9-7182-D387-B9D6-67C45EE2EB02}"/>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5" name="Footer Placeholder 4">
            <a:extLst>
              <a:ext uri="{FF2B5EF4-FFF2-40B4-BE49-F238E27FC236}">
                <a16:creationId xmlns:a16="http://schemas.microsoft.com/office/drawing/2014/main" id="{197C7EDC-B68C-1BB1-51DA-05EA18517A51}"/>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14C05D0-1B23-321C-8222-DC97FF287031}"/>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914592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3C610B-270D-6292-C506-5BED7C447E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AED1F2FE-C53B-3870-D9E2-BAB8AF6AA9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DE3DE9A-398C-70C5-0FB3-E260CEF97A1C}"/>
              </a:ext>
            </a:extLst>
          </p:cNvPr>
          <p:cNvSpPr>
            <a:spLocks noGrp="1"/>
          </p:cNvSpPr>
          <p:nvPr>
            <p:ph type="dt" sz="half" idx="10"/>
          </p:nvPr>
        </p:nvSpPr>
        <p:spPr/>
        <p:txBody>
          <a:bodyPr/>
          <a:lstStyle/>
          <a:p>
            <a:fld id="{F160A0C4-096F-4692-B5EF-F04B4057E65A}" type="datetimeFigureOut">
              <a:rPr lang="en-PH" smtClean="0"/>
              <a:t>10/14/2025</a:t>
            </a:fld>
            <a:endParaRPr lang="en-PH"/>
          </a:p>
        </p:txBody>
      </p:sp>
      <p:sp>
        <p:nvSpPr>
          <p:cNvPr id="5" name="Footer Placeholder 4">
            <a:extLst>
              <a:ext uri="{FF2B5EF4-FFF2-40B4-BE49-F238E27FC236}">
                <a16:creationId xmlns:a16="http://schemas.microsoft.com/office/drawing/2014/main" id="{3C2D8994-406C-7579-1245-017E563D230A}"/>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958D733-B0AE-FDAA-BC38-C4DD44C1D638}"/>
              </a:ext>
            </a:extLst>
          </p:cNvPr>
          <p:cNvSpPr>
            <a:spLocks noGrp="1"/>
          </p:cNvSpPr>
          <p:nvPr>
            <p:ph type="sldNum" sz="quarter" idx="12"/>
          </p:nvPr>
        </p:nvSpPr>
        <p:spPr/>
        <p:txBody>
          <a:bodyPr/>
          <a:lstStyle/>
          <a:p>
            <a:fld id="{DAD81FFA-0BF9-44B3-B75D-E6337B2FC043}" type="slidenum">
              <a:rPr lang="en-PH" smtClean="0"/>
              <a:t>‹#›</a:t>
            </a:fld>
            <a:endParaRPr lang="en-PH"/>
          </a:p>
        </p:txBody>
      </p:sp>
    </p:spTree>
    <p:extLst>
      <p:ext uri="{BB962C8B-B14F-4D97-AF65-F5344CB8AC3E}">
        <p14:creationId xmlns:p14="http://schemas.microsoft.com/office/powerpoint/2010/main" val="3657654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E48BAE-67CE-0AE9-F540-6FEE568BBF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5F720B0D-C107-D8B2-BA41-6FDDE88D32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1D8A391-0979-5A46-CF56-B3A5EDA146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60A0C4-096F-4692-B5EF-F04B4057E65A}" type="datetimeFigureOut">
              <a:rPr lang="en-PH" smtClean="0"/>
              <a:t>10/14/2025</a:t>
            </a:fld>
            <a:endParaRPr lang="en-PH"/>
          </a:p>
        </p:txBody>
      </p:sp>
      <p:sp>
        <p:nvSpPr>
          <p:cNvPr id="5" name="Footer Placeholder 4">
            <a:extLst>
              <a:ext uri="{FF2B5EF4-FFF2-40B4-BE49-F238E27FC236}">
                <a16:creationId xmlns:a16="http://schemas.microsoft.com/office/drawing/2014/main" id="{9243420E-C997-607B-BE27-9B74A08D13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a:p>
        </p:txBody>
      </p:sp>
      <p:sp>
        <p:nvSpPr>
          <p:cNvPr id="6" name="Slide Number Placeholder 5">
            <a:extLst>
              <a:ext uri="{FF2B5EF4-FFF2-40B4-BE49-F238E27FC236}">
                <a16:creationId xmlns:a16="http://schemas.microsoft.com/office/drawing/2014/main" id="{FB19E5EC-8625-D78A-1302-71E2827CA3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D81FFA-0BF9-44B3-B75D-E6337B2FC043}" type="slidenum">
              <a:rPr lang="en-PH" smtClean="0"/>
              <a:t>‹#›</a:t>
            </a:fld>
            <a:endParaRPr lang="en-PH"/>
          </a:p>
        </p:txBody>
      </p:sp>
    </p:spTree>
    <p:extLst>
      <p:ext uri="{BB962C8B-B14F-4D97-AF65-F5344CB8AC3E}">
        <p14:creationId xmlns:p14="http://schemas.microsoft.com/office/powerpoint/2010/main" val="3986786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B13623-D4E8-D438-5F1E-7D5AB951E913}"/>
              </a:ext>
            </a:extLst>
          </p:cNvPr>
          <p:cNvPicPr>
            <a:picLocks noChangeAspect="1"/>
          </p:cNvPicPr>
          <p:nvPr/>
        </p:nvPicPr>
        <p:blipFill>
          <a:blip r:embed="rId2"/>
          <a:stretch>
            <a:fillRect/>
          </a:stretch>
        </p:blipFill>
        <p:spPr>
          <a:xfrm>
            <a:off x="972151" y="0"/>
            <a:ext cx="10530037" cy="6858000"/>
          </a:xfrm>
          <a:prstGeom prst="rect">
            <a:avLst/>
          </a:prstGeom>
        </p:spPr>
      </p:pic>
    </p:spTree>
    <p:extLst>
      <p:ext uri="{BB962C8B-B14F-4D97-AF65-F5344CB8AC3E}">
        <p14:creationId xmlns:p14="http://schemas.microsoft.com/office/powerpoint/2010/main" val="3035707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B5BB18-043A-4571-E069-836B80D8D326}"/>
              </a:ext>
            </a:extLst>
          </p:cNvPr>
          <p:cNvPicPr>
            <a:picLocks noChangeAspect="1"/>
          </p:cNvPicPr>
          <p:nvPr/>
        </p:nvPicPr>
        <p:blipFill>
          <a:blip r:embed="rId2"/>
          <a:stretch>
            <a:fillRect/>
          </a:stretch>
        </p:blipFill>
        <p:spPr>
          <a:xfrm>
            <a:off x="962527" y="1617045"/>
            <a:ext cx="10626290" cy="3869356"/>
          </a:xfrm>
          <a:prstGeom prst="rect">
            <a:avLst/>
          </a:prstGeom>
        </p:spPr>
      </p:pic>
    </p:spTree>
    <p:extLst>
      <p:ext uri="{BB962C8B-B14F-4D97-AF65-F5344CB8AC3E}">
        <p14:creationId xmlns:p14="http://schemas.microsoft.com/office/powerpoint/2010/main" val="4219695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51B8E5-B5F7-DCCC-CE51-7E815EDC4FB3}"/>
              </a:ext>
            </a:extLst>
          </p:cNvPr>
          <p:cNvPicPr>
            <a:picLocks noChangeAspect="1"/>
          </p:cNvPicPr>
          <p:nvPr/>
        </p:nvPicPr>
        <p:blipFill>
          <a:blip r:embed="rId2"/>
          <a:stretch>
            <a:fillRect/>
          </a:stretch>
        </p:blipFill>
        <p:spPr>
          <a:xfrm>
            <a:off x="827773" y="1645920"/>
            <a:ext cx="10558913" cy="3946358"/>
          </a:xfrm>
          <a:prstGeom prst="rect">
            <a:avLst/>
          </a:prstGeom>
        </p:spPr>
      </p:pic>
    </p:spTree>
    <p:extLst>
      <p:ext uri="{BB962C8B-B14F-4D97-AF65-F5344CB8AC3E}">
        <p14:creationId xmlns:p14="http://schemas.microsoft.com/office/powerpoint/2010/main" val="60578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E97D85-8EED-026B-68BD-7235995AE5FE}"/>
              </a:ext>
            </a:extLst>
          </p:cNvPr>
          <p:cNvPicPr>
            <a:picLocks noChangeAspect="1"/>
          </p:cNvPicPr>
          <p:nvPr/>
        </p:nvPicPr>
        <p:blipFill>
          <a:blip r:embed="rId2"/>
          <a:stretch>
            <a:fillRect/>
          </a:stretch>
        </p:blipFill>
        <p:spPr>
          <a:xfrm>
            <a:off x="1389372" y="0"/>
            <a:ext cx="9413256" cy="6858000"/>
          </a:xfrm>
          <a:prstGeom prst="rect">
            <a:avLst/>
          </a:prstGeom>
        </p:spPr>
      </p:pic>
      <p:sp>
        <p:nvSpPr>
          <p:cNvPr id="4" name="TextBox 3">
            <a:extLst>
              <a:ext uri="{FF2B5EF4-FFF2-40B4-BE49-F238E27FC236}">
                <a16:creationId xmlns:a16="http://schemas.microsoft.com/office/drawing/2014/main" id="{B8C5F9C7-7E07-F696-776F-D6FED1B2D412}"/>
              </a:ext>
            </a:extLst>
          </p:cNvPr>
          <p:cNvSpPr txBox="1"/>
          <p:nvPr/>
        </p:nvSpPr>
        <p:spPr>
          <a:xfrm>
            <a:off x="4880007" y="3619098"/>
            <a:ext cx="854721" cy="369332"/>
          </a:xfrm>
          <a:prstGeom prst="rect">
            <a:avLst/>
          </a:prstGeom>
          <a:solidFill>
            <a:schemeClr val="bg1"/>
          </a:solidFill>
          <a:ln>
            <a:solidFill>
              <a:schemeClr val="accent1"/>
            </a:solidFill>
          </a:ln>
        </p:spPr>
        <p:txBody>
          <a:bodyPr wrap="none" rtlCol="0">
            <a:spAutoFit/>
          </a:bodyPr>
          <a:lstStyle/>
          <a:p>
            <a:r>
              <a:rPr lang="en-PH" dirty="0"/>
              <a:t>5x + 3y</a:t>
            </a:r>
          </a:p>
        </p:txBody>
      </p:sp>
      <p:sp>
        <p:nvSpPr>
          <p:cNvPr id="6" name="TextBox 5">
            <a:extLst>
              <a:ext uri="{FF2B5EF4-FFF2-40B4-BE49-F238E27FC236}">
                <a16:creationId xmlns:a16="http://schemas.microsoft.com/office/drawing/2014/main" id="{17F98309-1617-C409-4BEE-2AB0AF87E8EF}"/>
              </a:ext>
            </a:extLst>
          </p:cNvPr>
          <p:cNvSpPr txBox="1"/>
          <p:nvPr/>
        </p:nvSpPr>
        <p:spPr>
          <a:xfrm>
            <a:off x="6543574" y="3145856"/>
            <a:ext cx="431528" cy="369332"/>
          </a:xfrm>
          <a:prstGeom prst="rect">
            <a:avLst/>
          </a:prstGeom>
          <a:solidFill>
            <a:schemeClr val="bg1"/>
          </a:solidFill>
          <a:ln>
            <a:solidFill>
              <a:schemeClr val="accent1"/>
            </a:solidFill>
          </a:ln>
        </p:spPr>
        <p:txBody>
          <a:bodyPr wrap="square" rtlCol="0">
            <a:spAutoFit/>
          </a:bodyPr>
          <a:lstStyle/>
          <a:p>
            <a:r>
              <a:rPr lang="en-PH" dirty="0"/>
              <a:t>$5</a:t>
            </a:r>
          </a:p>
        </p:txBody>
      </p:sp>
      <p:sp>
        <p:nvSpPr>
          <p:cNvPr id="7" name="TextBox 6">
            <a:extLst>
              <a:ext uri="{FF2B5EF4-FFF2-40B4-BE49-F238E27FC236}">
                <a16:creationId xmlns:a16="http://schemas.microsoft.com/office/drawing/2014/main" id="{9C840CF9-5652-1F28-3CAD-BBC727D773EC}"/>
              </a:ext>
            </a:extLst>
          </p:cNvPr>
          <p:cNvSpPr txBox="1"/>
          <p:nvPr/>
        </p:nvSpPr>
        <p:spPr>
          <a:xfrm>
            <a:off x="7217342" y="3120551"/>
            <a:ext cx="431528" cy="369332"/>
          </a:xfrm>
          <a:prstGeom prst="rect">
            <a:avLst/>
          </a:prstGeom>
          <a:solidFill>
            <a:schemeClr val="bg1"/>
          </a:solidFill>
          <a:ln>
            <a:solidFill>
              <a:schemeClr val="accent1"/>
            </a:solidFill>
          </a:ln>
        </p:spPr>
        <p:txBody>
          <a:bodyPr wrap="none" rtlCol="0">
            <a:spAutoFit/>
          </a:bodyPr>
          <a:lstStyle/>
          <a:p>
            <a:r>
              <a:rPr lang="en-PH" dirty="0"/>
              <a:t>$3</a:t>
            </a:r>
          </a:p>
        </p:txBody>
      </p:sp>
      <p:sp>
        <p:nvSpPr>
          <p:cNvPr id="2" name="TextBox 1">
            <a:extLst>
              <a:ext uri="{FF2B5EF4-FFF2-40B4-BE49-F238E27FC236}">
                <a16:creationId xmlns:a16="http://schemas.microsoft.com/office/drawing/2014/main" id="{838E18F4-4D9E-1A68-E6C6-2A6FAE903304}"/>
              </a:ext>
            </a:extLst>
          </p:cNvPr>
          <p:cNvSpPr txBox="1"/>
          <p:nvPr/>
        </p:nvSpPr>
        <p:spPr>
          <a:xfrm>
            <a:off x="4880006" y="4570395"/>
            <a:ext cx="854721" cy="369332"/>
          </a:xfrm>
          <a:prstGeom prst="rect">
            <a:avLst/>
          </a:prstGeom>
          <a:solidFill>
            <a:schemeClr val="bg1"/>
          </a:solidFill>
          <a:ln>
            <a:solidFill>
              <a:schemeClr val="accent1"/>
            </a:solidFill>
          </a:ln>
        </p:spPr>
        <p:txBody>
          <a:bodyPr wrap="none" rtlCol="0">
            <a:spAutoFit/>
          </a:bodyPr>
          <a:lstStyle/>
          <a:p>
            <a:r>
              <a:rPr lang="en-PH" dirty="0"/>
              <a:t>5x + 3y</a:t>
            </a:r>
          </a:p>
        </p:txBody>
      </p:sp>
    </p:spTree>
    <p:extLst>
      <p:ext uri="{BB962C8B-B14F-4D97-AF65-F5344CB8AC3E}">
        <p14:creationId xmlns:p14="http://schemas.microsoft.com/office/powerpoint/2010/main" val="139583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7E4387-54FA-6276-8749-AE78A6AFCD31}"/>
              </a:ext>
            </a:extLst>
          </p:cNvPr>
          <p:cNvPicPr>
            <a:picLocks noChangeAspect="1"/>
          </p:cNvPicPr>
          <p:nvPr/>
        </p:nvPicPr>
        <p:blipFill>
          <a:blip r:embed="rId2"/>
          <a:stretch>
            <a:fillRect/>
          </a:stretch>
        </p:blipFill>
        <p:spPr>
          <a:xfrm>
            <a:off x="2033020" y="796907"/>
            <a:ext cx="8125959" cy="1933845"/>
          </a:xfrm>
          <a:prstGeom prst="rect">
            <a:avLst/>
          </a:prstGeom>
        </p:spPr>
      </p:pic>
      <p:pic>
        <p:nvPicPr>
          <p:cNvPr id="5" name="Picture 4">
            <a:extLst>
              <a:ext uri="{FF2B5EF4-FFF2-40B4-BE49-F238E27FC236}">
                <a16:creationId xmlns:a16="http://schemas.microsoft.com/office/drawing/2014/main" id="{18E57059-98C8-46B7-AC15-3C1CDA37BC41}"/>
              </a:ext>
            </a:extLst>
          </p:cNvPr>
          <p:cNvPicPr>
            <a:picLocks noChangeAspect="1"/>
          </p:cNvPicPr>
          <p:nvPr/>
        </p:nvPicPr>
        <p:blipFill>
          <a:blip r:embed="rId3"/>
          <a:stretch>
            <a:fillRect/>
          </a:stretch>
        </p:blipFill>
        <p:spPr>
          <a:xfrm>
            <a:off x="2263398" y="2730752"/>
            <a:ext cx="7665202" cy="3583421"/>
          </a:xfrm>
          <a:prstGeom prst="rect">
            <a:avLst/>
          </a:prstGeom>
        </p:spPr>
      </p:pic>
      <p:sp>
        <p:nvSpPr>
          <p:cNvPr id="2" name="TextBox 1">
            <a:extLst>
              <a:ext uri="{FF2B5EF4-FFF2-40B4-BE49-F238E27FC236}">
                <a16:creationId xmlns:a16="http://schemas.microsoft.com/office/drawing/2014/main" id="{DEFAD95D-A0F5-5C51-F63C-DC41BADF8D9C}"/>
              </a:ext>
            </a:extLst>
          </p:cNvPr>
          <p:cNvSpPr txBox="1"/>
          <p:nvPr/>
        </p:nvSpPr>
        <p:spPr>
          <a:xfrm>
            <a:off x="5958038" y="5293894"/>
            <a:ext cx="981777" cy="369332"/>
          </a:xfrm>
          <a:prstGeom prst="rect">
            <a:avLst/>
          </a:prstGeom>
          <a:solidFill>
            <a:schemeClr val="bg1"/>
          </a:solidFill>
          <a:ln>
            <a:solidFill>
              <a:schemeClr val="accent1"/>
            </a:solidFill>
          </a:ln>
        </p:spPr>
        <p:txBody>
          <a:bodyPr wrap="square" rtlCol="0">
            <a:spAutoFit/>
          </a:bodyPr>
          <a:lstStyle/>
          <a:p>
            <a:r>
              <a:rPr lang="en-PH" dirty="0"/>
              <a:t>5x + 3y</a:t>
            </a:r>
          </a:p>
        </p:txBody>
      </p:sp>
    </p:spTree>
    <p:extLst>
      <p:ext uri="{BB962C8B-B14F-4D97-AF65-F5344CB8AC3E}">
        <p14:creationId xmlns:p14="http://schemas.microsoft.com/office/powerpoint/2010/main" val="2839733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2F815-173A-51BB-0A85-4C1A65A29601}"/>
              </a:ext>
            </a:extLst>
          </p:cNvPr>
          <p:cNvSpPr>
            <a:spLocks noGrp="1"/>
          </p:cNvSpPr>
          <p:nvPr>
            <p:ph type="ctrTitle"/>
          </p:nvPr>
        </p:nvSpPr>
        <p:spPr>
          <a:xfrm>
            <a:off x="1602658" y="2420221"/>
            <a:ext cx="9144000" cy="2387600"/>
          </a:xfrm>
        </p:spPr>
        <p:txBody>
          <a:bodyPr>
            <a:normAutofit fontScale="90000"/>
          </a:bodyPr>
          <a:lstStyle/>
          <a:p>
            <a:r>
              <a:rPr lang="en-PH" sz="2800" dirty="0"/>
              <a:t>1. Bob builds two types of sheds. He  uses 10 sheets of dry wall and 15 studs for small shed, and 15 sheets of dry wall and 45 studs for large shed. He has available 60sheds of dry wall and 135 studs . If Bob makes $390 profit on a small shed and $520 on large shed, how many of each type of building should bob build to maximize his profit?</a:t>
            </a:r>
          </a:p>
        </p:txBody>
      </p:sp>
      <p:sp>
        <p:nvSpPr>
          <p:cNvPr id="3" name="Subtitle 2">
            <a:extLst>
              <a:ext uri="{FF2B5EF4-FFF2-40B4-BE49-F238E27FC236}">
                <a16:creationId xmlns:a16="http://schemas.microsoft.com/office/drawing/2014/main" id="{1CF85ACB-2288-D828-2D05-2E0053E8A658}"/>
              </a:ext>
            </a:extLst>
          </p:cNvPr>
          <p:cNvSpPr>
            <a:spLocks noGrp="1"/>
          </p:cNvSpPr>
          <p:nvPr>
            <p:ph type="subTitle" idx="1"/>
          </p:nvPr>
        </p:nvSpPr>
        <p:spPr>
          <a:xfrm>
            <a:off x="1327355" y="1291458"/>
            <a:ext cx="9144000" cy="468516"/>
          </a:xfrm>
        </p:spPr>
        <p:txBody>
          <a:bodyPr/>
          <a:lstStyle/>
          <a:p>
            <a:r>
              <a:rPr lang="en-PH" dirty="0"/>
              <a:t>Formulate mathematically the following LP problem</a:t>
            </a:r>
          </a:p>
        </p:txBody>
      </p:sp>
    </p:spTree>
    <p:extLst>
      <p:ext uri="{BB962C8B-B14F-4D97-AF65-F5344CB8AC3E}">
        <p14:creationId xmlns:p14="http://schemas.microsoft.com/office/powerpoint/2010/main" val="2142258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F0F8E-7E30-57E8-7525-BAB8C557DD32}"/>
              </a:ext>
            </a:extLst>
          </p:cNvPr>
          <p:cNvSpPr>
            <a:spLocks noGrp="1"/>
          </p:cNvSpPr>
          <p:nvPr>
            <p:ph idx="1"/>
          </p:nvPr>
        </p:nvSpPr>
        <p:spPr/>
        <p:txBody>
          <a:bodyPr/>
          <a:lstStyle/>
          <a:p>
            <a:r>
              <a:rPr lang="en-PH" dirty="0"/>
              <a:t>2. a steel producer makes two type of steel. Regular and special steel, a ton of regular steel requires 2 hours in the open heat furnace and 5 hours of in the soaking pit, a ton of special steel requires 2 hours in the open heat furnace and 3 hours in the soaking pit. The open heat furnace is available 8 hours/day and the soaking pit is available 15 hours/day. The profit of a ton of regular steel is $120 and $100 profit of a ton of special steel. Determine how many tons o regular and special steel should be made to maximize the profit.</a:t>
            </a:r>
          </a:p>
        </p:txBody>
      </p:sp>
    </p:spTree>
    <p:extLst>
      <p:ext uri="{BB962C8B-B14F-4D97-AF65-F5344CB8AC3E}">
        <p14:creationId xmlns:p14="http://schemas.microsoft.com/office/powerpoint/2010/main" val="169849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38FCD-E137-EB27-798B-57E5CF423334}"/>
              </a:ext>
            </a:extLst>
          </p:cNvPr>
          <p:cNvSpPr>
            <a:spLocks noGrp="1"/>
          </p:cNvSpPr>
          <p:nvPr>
            <p:ph idx="1"/>
          </p:nvPr>
        </p:nvSpPr>
        <p:spPr>
          <a:xfrm>
            <a:off x="1059581" y="1357161"/>
            <a:ext cx="10515600" cy="5582653"/>
          </a:xfrm>
        </p:spPr>
        <p:txBody>
          <a:bodyPr/>
          <a:lstStyle/>
          <a:p>
            <a:pPr marL="0" indent="0">
              <a:buNone/>
            </a:pPr>
            <a:r>
              <a:rPr lang="en-PH" dirty="0"/>
              <a:t>3. At burger heaven a double burger contains 2 meat patties, and 6 pickles, while a triple burger contains 3 meat patties and 3 pickles. Near closing time one day only 24 meat patties and 48 pickles are available. If a double burger sells at $1.5 and the triple burger sells $1.2 then how many of each should be made to maximize the total revenue?</a:t>
            </a:r>
          </a:p>
        </p:txBody>
      </p:sp>
    </p:spTree>
    <p:extLst>
      <p:ext uri="{BB962C8B-B14F-4D97-AF65-F5344CB8AC3E}">
        <p14:creationId xmlns:p14="http://schemas.microsoft.com/office/powerpoint/2010/main" val="4155077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FC8D6-1BF2-73FA-1360-F51F7962E047}"/>
              </a:ext>
            </a:extLst>
          </p:cNvPr>
          <p:cNvSpPr>
            <a:spLocks noGrp="1"/>
          </p:cNvSpPr>
          <p:nvPr>
            <p:ph type="title"/>
          </p:nvPr>
        </p:nvSpPr>
        <p:spPr/>
        <p:txBody>
          <a:bodyPr/>
          <a:lstStyle/>
          <a:p>
            <a:r>
              <a:rPr lang="en-PH" dirty="0"/>
              <a:t>  </a:t>
            </a:r>
          </a:p>
        </p:txBody>
      </p:sp>
      <p:sp>
        <p:nvSpPr>
          <p:cNvPr id="3" name="Content Placeholder 2">
            <a:extLst>
              <a:ext uri="{FF2B5EF4-FFF2-40B4-BE49-F238E27FC236}">
                <a16:creationId xmlns:a16="http://schemas.microsoft.com/office/drawing/2014/main" id="{CA8D1632-C430-EFF1-998C-899362FDE6B2}"/>
              </a:ext>
            </a:extLst>
          </p:cNvPr>
          <p:cNvSpPr>
            <a:spLocks noGrp="1"/>
          </p:cNvSpPr>
          <p:nvPr>
            <p:ph idx="1"/>
          </p:nvPr>
        </p:nvSpPr>
        <p:spPr/>
        <p:txBody>
          <a:bodyPr/>
          <a:lstStyle/>
          <a:p>
            <a:r>
              <a:rPr lang="en-PH" dirty="0"/>
              <a:t>4. A company manufacturers sells two models of lamps bright and dim </a:t>
            </a:r>
            <a:r>
              <a:rPr lang="en-PH" dirty="0" err="1"/>
              <a:t>ligth</a:t>
            </a:r>
            <a:r>
              <a:rPr lang="en-PH" dirty="0"/>
              <a:t>. To manufacture each lamp, bright lamp requires manual work for 20 minutes and mechanical work for 20 minutes, while the dim light requires manual work for 30 minutes and 10 minutes for mechanical work. The manual work available per month is 100 hours and machine is limited to only 80 hours per month. Knowing the profit per unit is $15 and 10$ respectively, determine the quantities of </a:t>
            </a:r>
            <a:r>
              <a:rPr lang="en-PH"/>
              <a:t>each lamp that </a:t>
            </a:r>
            <a:r>
              <a:rPr lang="en-PH" dirty="0"/>
              <a:t>should be manufactured to obtain the maximum profit.</a:t>
            </a:r>
          </a:p>
        </p:txBody>
      </p:sp>
    </p:spTree>
    <p:extLst>
      <p:ext uri="{BB962C8B-B14F-4D97-AF65-F5344CB8AC3E}">
        <p14:creationId xmlns:p14="http://schemas.microsoft.com/office/powerpoint/2010/main" val="1595800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11E293-97DE-9A9B-9B3E-0559FEEB045F}"/>
              </a:ext>
            </a:extLst>
          </p:cNvPr>
          <p:cNvPicPr>
            <a:picLocks noGrp="1" noChangeAspect="1"/>
          </p:cNvPicPr>
          <p:nvPr>
            <p:ph idx="1"/>
          </p:nvPr>
        </p:nvPicPr>
        <p:blipFill>
          <a:blip r:embed="rId2"/>
          <a:stretch>
            <a:fillRect/>
          </a:stretch>
        </p:blipFill>
        <p:spPr>
          <a:xfrm>
            <a:off x="437575" y="972153"/>
            <a:ext cx="11276370" cy="4920118"/>
          </a:xfrm>
        </p:spPr>
      </p:pic>
    </p:spTree>
    <p:extLst>
      <p:ext uri="{BB962C8B-B14F-4D97-AF65-F5344CB8AC3E}">
        <p14:creationId xmlns:p14="http://schemas.microsoft.com/office/powerpoint/2010/main" val="3586537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6A63BCE-5F03-5730-C606-8C4580F474AB}"/>
              </a:ext>
            </a:extLst>
          </p:cNvPr>
          <p:cNvPicPr>
            <a:picLocks noGrp="1" noChangeAspect="1"/>
          </p:cNvPicPr>
          <p:nvPr>
            <p:ph idx="1"/>
          </p:nvPr>
        </p:nvPicPr>
        <p:blipFill>
          <a:blip r:embed="rId2"/>
          <a:stretch>
            <a:fillRect/>
          </a:stretch>
        </p:blipFill>
        <p:spPr>
          <a:xfrm>
            <a:off x="1241658" y="885524"/>
            <a:ext cx="9779267" cy="4844799"/>
          </a:xfrm>
        </p:spPr>
      </p:pic>
    </p:spTree>
    <p:extLst>
      <p:ext uri="{BB962C8B-B14F-4D97-AF65-F5344CB8AC3E}">
        <p14:creationId xmlns:p14="http://schemas.microsoft.com/office/powerpoint/2010/main" val="187043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738DE8-DB34-2E44-542E-990998EC1513}"/>
              </a:ext>
            </a:extLst>
          </p:cNvPr>
          <p:cNvPicPr>
            <a:picLocks noChangeAspect="1"/>
          </p:cNvPicPr>
          <p:nvPr/>
        </p:nvPicPr>
        <p:blipFill>
          <a:blip r:embed="rId2"/>
          <a:stretch>
            <a:fillRect/>
          </a:stretch>
        </p:blipFill>
        <p:spPr>
          <a:xfrm>
            <a:off x="1704362" y="404390"/>
            <a:ext cx="8783276" cy="6049219"/>
          </a:xfrm>
          <a:prstGeom prst="rect">
            <a:avLst/>
          </a:prstGeom>
        </p:spPr>
      </p:pic>
    </p:spTree>
    <p:extLst>
      <p:ext uri="{BB962C8B-B14F-4D97-AF65-F5344CB8AC3E}">
        <p14:creationId xmlns:p14="http://schemas.microsoft.com/office/powerpoint/2010/main" val="2779263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CD435D-1E6F-5440-B247-CBEB7213F37B}"/>
              </a:ext>
            </a:extLst>
          </p:cNvPr>
          <p:cNvPicPr>
            <a:picLocks noChangeAspect="1"/>
          </p:cNvPicPr>
          <p:nvPr/>
        </p:nvPicPr>
        <p:blipFill>
          <a:blip r:embed="rId2"/>
          <a:stretch>
            <a:fillRect/>
          </a:stretch>
        </p:blipFill>
        <p:spPr>
          <a:xfrm>
            <a:off x="1831978" y="528191"/>
            <a:ext cx="8335538" cy="2086266"/>
          </a:xfrm>
          <a:prstGeom prst="rect">
            <a:avLst/>
          </a:prstGeom>
        </p:spPr>
      </p:pic>
      <p:pic>
        <p:nvPicPr>
          <p:cNvPr id="7" name="Picture 6">
            <a:extLst>
              <a:ext uri="{FF2B5EF4-FFF2-40B4-BE49-F238E27FC236}">
                <a16:creationId xmlns:a16="http://schemas.microsoft.com/office/drawing/2014/main" id="{8C68CC7A-C446-31C9-1205-8B7544C27226}"/>
              </a:ext>
            </a:extLst>
          </p:cNvPr>
          <p:cNvPicPr>
            <a:picLocks noChangeAspect="1"/>
          </p:cNvPicPr>
          <p:nvPr/>
        </p:nvPicPr>
        <p:blipFill>
          <a:blip r:embed="rId3"/>
          <a:stretch>
            <a:fillRect/>
          </a:stretch>
        </p:blipFill>
        <p:spPr>
          <a:xfrm>
            <a:off x="2731226" y="2614457"/>
            <a:ext cx="6344535" cy="3429479"/>
          </a:xfrm>
          <a:prstGeom prst="rect">
            <a:avLst/>
          </a:prstGeom>
        </p:spPr>
      </p:pic>
    </p:spTree>
    <p:extLst>
      <p:ext uri="{BB962C8B-B14F-4D97-AF65-F5344CB8AC3E}">
        <p14:creationId xmlns:p14="http://schemas.microsoft.com/office/powerpoint/2010/main" val="825978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D5E05-4666-FDB5-FD24-3D4A71115875}"/>
              </a:ext>
            </a:extLst>
          </p:cNvPr>
          <p:cNvSpPr>
            <a:spLocks noGrp="1"/>
          </p:cNvSpPr>
          <p:nvPr>
            <p:ph idx="1"/>
          </p:nvPr>
        </p:nvSpPr>
        <p:spPr/>
        <p:txBody>
          <a:bodyPr/>
          <a:lstStyle/>
          <a:p>
            <a:r>
              <a:rPr lang="en-US" dirty="0"/>
              <a:t>One cup of doggie dinner contains 20 grams  of protein and 40 grams of carbo hydrate. One cup of puppy power contains 30 grams of protein and 20 grams of carbohydrates, Susan wants her dog to get at least 200 grams of protein and 180 grams of carbohydrate. If the doggie dinner costs16 cents/cup and the puppy power cost 20cents/cup, then how many cups of each would satisfy the constraints and  minimize the cost?</a:t>
            </a:r>
            <a:endParaRPr lang="en-PH" dirty="0"/>
          </a:p>
        </p:txBody>
      </p:sp>
    </p:spTree>
    <p:extLst>
      <p:ext uri="{BB962C8B-B14F-4D97-AF65-F5344CB8AC3E}">
        <p14:creationId xmlns:p14="http://schemas.microsoft.com/office/powerpoint/2010/main" val="1517768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922341-B84D-A9F9-3711-C8806FBA7FE2}"/>
              </a:ext>
            </a:extLst>
          </p:cNvPr>
          <p:cNvPicPr>
            <a:picLocks noChangeAspect="1"/>
          </p:cNvPicPr>
          <p:nvPr/>
        </p:nvPicPr>
        <p:blipFill>
          <a:blip r:embed="rId2"/>
          <a:stretch>
            <a:fillRect/>
          </a:stretch>
        </p:blipFill>
        <p:spPr>
          <a:xfrm>
            <a:off x="445970" y="1848049"/>
            <a:ext cx="11300059" cy="2906829"/>
          </a:xfrm>
          <a:prstGeom prst="rect">
            <a:avLst/>
          </a:prstGeom>
        </p:spPr>
      </p:pic>
    </p:spTree>
    <p:extLst>
      <p:ext uri="{BB962C8B-B14F-4D97-AF65-F5344CB8AC3E}">
        <p14:creationId xmlns:p14="http://schemas.microsoft.com/office/powerpoint/2010/main" val="1408095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E3C13E-E605-4D56-39F8-5C501F334966}"/>
              </a:ext>
            </a:extLst>
          </p:cNvPr>
          <p:cNvPicPr>
            <a:picLocks noChangeAspect="1"/>
          </p:cNvPicPr>
          <p:nvPr/>
        </p:nvPicPr>
        <p:blipFill>
          <a:blip r:embed="rId2"/>
          <a:stretch>
            <a:fillRect/>
          </a:stretch>
        </p:blipFill>
        <p:spPr>
          <a:xfrm>
            <a:off x="664142" y="827773"/>
            <a:ext cx="10809171" cy="5005136"/>
          </a:xfrm>
          <a:prstGeom prst="rect">
            <a:avLst/>
          </a:prstGeom>
        </p:spPr>
      </p:pic>
    </p:spTree>
    <p:extLst>
      <p:ext uri="{BB962C8B-B14F-4D97-AF65-F5344CB8AC3E}">
        <p14:creationId xmlns:p14="http://schemas.microsoft.com/office/powerpoint/2010/main" val="866972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824CA7-CC50-4394-0895-D72877F1779E}"/>
              </a:ext>
            </a:extLst>
          </p:cNvPr>
          <p:cNvSpPr>
            <a:spLocks noGrp="1"/>
          </p:cNvSpPr>
          <p:nvPr>
            <p:ph idx="1"/>
          </p:nvPr>
        </p:nvSpPr>
        <p:spPr>
          <a:xfrm>
            <a:off x="838200" y="1395663"/>
            <a:ext cx="10515600" cy="4781300"/>
          </a:xfrm>
        </p:spPr>
        <p:txBody>
          <a:bodyPr/>
          <a:lstStyle/>
          <a:p>
            <a:r>
              <a:rPr lang="en-US" dirty="0"/>
              <a:t>FEASIBLE REGION – Refers to the area that satisfies all the constraints of a linear programming problem. It’s the region where all the constraints overlap.</a:t>
            </a:r>
          </a:p>
          <a:p>
            <a:r>
              <a:rPr lang="en-US" dirty="0"/>
              <a:t>BOUNDED BY CONTRAINTS – The feasible region is defined by the lines or curves representing the constraints</a:t>
            </a:r>
          </a:p>
          <a:p>
            <a:r>
              <a:rPr lang="en-US" dirty="0"/>
              <a:t>SATISFIES ALL CONSTRAINTS – Every point within the feasible region meets all the constraints.</a:t>
            </a:r>
          </a:p>
          <a:p>
            <a:r>
              <a:rPr lang="en-US" dirty="0"/>
              <a:t>OPTIMAL SOLUTION – The optimal solution to the linear programming problem lies within the feasible region, often at vertex or corner point.</a:t>
            </a:r>
            <a:endParaRPr lang="en-PH" dirty="0"/>
          </a:p>
        </p:txBody>
      </p:sp>
    </p:spTree>
    <p:extLst>
      <p:ext uri="{BB962C8B-B14F-4D97-AF65-F5344CB8AC3E}">
        <p14:creationId xmlns:p14="http://schemas.microsoft.com/office/powerpoint/2010/main" val="2706364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EFF3AA-7ECA-8E55-C013-AA05196431B0}"/>
              </a:ext>
            </a:extLst>
          </p:cNvPr>
          <p:cNvSpPr txBox="1"/>
          <p:nvPr/>
        </p:nvSpPr>
        <p:spPr>
          <a:xfrm>
            <a:off x="914399" y="504062"/>
            <a:ext cx="10828422" cy="2677656"/>
          </a:xfrm>
          <a:prstGeom prst="rect">
            <a:avLst/>
          </a:prstGeom>
          <a:noFill/>
        </p:spPr>
        <p:txBody>
          <a:bodyPr wrap="square">
            <a:spAutoFit/>
          </a:bodyPr>
          <a:lstStyle/>
          <a:p>
            <a:r>
              <a:rPr lang="en-PH" sz="2800" dirty="0"/>
              <a:t>At burger heaven a double burger contains 2 meat patties, and 6 pickles, while a triple burger contains 3 meat patties and 3 pickles. Near closing time one day only 24 meat patties and 48 pickles are available. If a double burger sells at $1.5 and the triple burger sells $1.2 then how many of each should be made to maximize the total revenue?</a:t>
            </a:r>
          </a:p>
        </p:txBody>
      </p:sp>
    </p:spTree>
    <p:extLst>
      <p:ext uri="{BB962C8B-B14F-4D97-AF65-F5344CB8AC3E}">
        <p14:creationId xmlns:p14="http://schemas.microsoft.com/office/powerpoint/2010/main" val="3874053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4CC010-F9F1-64CC-CD46-FE359F0817F7}"/>
              </a:ext>
            </a:extLst>
          </p:cNvPr>
          <p:cNvSpPr txBox="1"/>
          <p:nvPr/>
        </p:nvSpPr>
        <p:spPr>
          <a:xfrm>
            <a:off x="750770" y="791208"/>
            <a:ext cx="10982425" cy="3539430"/>
          </a:xfrm>
          <a:prstGeom prst="rect">
            <a:avLst/>
          </a:prstGeom>
          <a:noFill/>
        </p:spPr>
        <p:txBody>
          <a:bodyPr wrap="square">
            <a:spAutoFit/>
          </a:bodyPr>
          <a:lstStyle/>
          <a:p>
            <a:r>
              <a:rPr lang="en-PH" sz="2800" dirty="0"/>
              <a:t>A steel producer makes two type of steel. Regular and special steel, a ton of regular steel requires 2 hours in the open heat furnace and 5 hours of in the soaking pit, a ton of special steel requires 2 hours in the open heat furnace and 3 hours in the soaking pit. The open heat furnace is available 8 hours/day and the soaking pit is available 15 hours/day. The profit of a ton of regular steel is $120 and $100 profit of a ton of special steel. Determine how many tons o regular and special steel should be made to maximize the profit.</a:t>
            </a:r>
          </a:p>
        </p:txBody>
      </p:sp>
    </p:spTree>
    <p:extLst>
      <p:ext uri="{BB962C8B-B14F-4D97-AF65-F5344CB8AC3E}">
        <p14:creationId xmlns:p14="http://schemas.microsoft.com/office/powerpoint/2010/main" val="79725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A86F4-AB2B-C423-D46D-47B7437E82DD}"/>
              </a:ext>
            </a:extLst>
          </p:cNvPr>
          <p:cNvPicPr>
            <a:picLocks noChangeAspect="1"/>
          </p:cNvPicPr>
          <p:nvPr/>
        </p:nvPicPr>
        <p:blipFill>
          <a:blip r:embed="rId2"/>
          <a:stretch>
            <a:fillRect/>
          </a:stretch>
        </p:blipFill>
        <p:spPr>
          <a:xfrm>
            <a:off x="1023229" y="609206"/>
            <a:ext cx="10145541" cy="5639587"/>
          </a:xfrm>
          <a:prstGeom prst="rect">
            <a:avLst/>
          </a:prstGeom>
        </p:spPr>
      </p:pic>
    </p:spTree>
    <p:extLst>
      <p:ext uri="{BB962C8B-B14F-4D97-AF65-F5344CB8AC3E}">
        <p14:creationId xmlns:p14="http://schemas.microsoft.com/office/powerpoint/2010/main" val="4130286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91E986-D90A-4155-BA0E-238C81231DC0}"/>
              </a:ext>
            </a:extLst>
          </p:cNvPr>
          <p:cNvPicPr>
            <a:picLocks noChangeAspect="1"/>
          </p:cNvPicPr>
          <p:nvPr/>
        </p:nvPicPr>
        <p:blipFill>
          <a:blip r:embed="rId2"/>
          <a:stretch>
            <a:fillRect/>
          </a:stretch>
        </p:blipFill>
        <p:spPr>
          <a:xfrm>
            <a:off x="1366177" y="1029903"/>
            <a:ext cx="9459645" cy="4323415"/>
          </a:xfrm>
          <a:prstGeom prst="rect">
            <a:avLst/>
          </a:prstGeom>
        </p:spPr>
      </p:pic>
    </p:spTree>
    <p:extLst>
      <p:ext uri="{BB962C8B-B14F-4D97-AF65-F5344CB8AC3E}">
        <p14:creationId xmlns:p14="http://schemas.microsoft.com/office/powerpoint/2010/main" val="3431608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7EAC77-79BC-9422-D2C7-2961E025E381}"/>
              </a:ext>
            </a:extLst>
          </p:cNvPr>
          <p:cNvPicPr>
            <a:picLocks noChangeAspect="1"/>
          </p:cNvPicPr>
          <p:nvPr/>
        </p:nvPicPr>
        <p:blipFill>
          <a:blip r:embed="rId2"/>
          <a:stretch>
            <a:fillRect/>
          </a:stretch>
        </p:blipFill>
        <p:spPr>
          <a:xfrm>
            <a:off x="1175651" y="537675"/>
            <a:ext cx="9840698" cy="5314485"/>
          </a:xfrm>
          <a:prstGeom prst="rect">
            <a:avLst/>
          </a:prstGeom>
        </p:spPr>
      </p:pic>
    </p:spTree>
    <p:extLst>
      <p:ext uri="{BB962C8B-B14F-4D97-AF65-F5344CB8AC3E}">
        <p14:creationId xmlns:p14="http://schemas.microsoft.com/office/powerpoint/2010/main" val="2807383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ECCDA0-EC28-F70D-80BB-685F49DB148B}"/>
              </a:ext>
            </a:extLst>
          </p:cNvPr>
          <p:cNvPicPr>
            <a:picLocks noChangeAspect="1"/>
          </p:cNvPicPr>
          <p:nvPr/>
        </p:nvPicPr>
        <p:blipFill>
          <a:blip r:embed="rId2"/>
          <a:stretch>
            <a:fillRect/>
          </a:stretch>
        </p:blipFill>
        <p:spPr>
          <a:xfrm>
            <a:off x="1289967" y="699706"/>
            <a:ext cx="9612066" cy="5458587"/>
          </a:xfrm>
          <a:prstGeom prst="rect">
            <a:avLst/>
          </a:prstGeom>
        </p:spPr>
      </p:pic>
    </p:spTree>
    <p:extLst>
      <p:ext uri="{BB962C8B-B14F-4D97-AF65-F5344CB8AC3E}">
        <p14:creationId xmlns:p14="http://schemas.microsoft.com/office/powerpoint/2010/main" val="3827038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94FCAF-6234-EF49-0588-BF299A0CFD1D}"/>
              </a:ext>
            </a:extLst>
          </p:cNvPr>
          <p:cNvPicPr>
            <a:picLocks noChangeAspect="1"/>
          </p:cNvPicPr>
          <p:nvPr/>
        </p:nvPicPr>
        <p:blipFill>
          <a:blip r:embed="rId2"/>
          <a:stretch>
            <a:fillRect/>
          </a:stretch>
        </p:blipFill>
        <p:spPr>
          <a:xfrm>
            <a:off x="1636295" y="269507"/>
            <a:ext cx="8768614" cy="5832910"/>
          </a:xfrm>
          <a:prstGeom prst="rect">
            <a:avLst/>
          </a:prstGeom>
        </p:spPr>
      </p:pic>
    </p:spTree>
    <p:extLst>
      <p:ext uri="{BB962C8B-B14F-4D97-AF65-F5344CB8AC3E}">
        <p14:creationId xmlns:p14="http://schemas.microsoft.com/office/powerpoint/2010/main" val="3038434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F4BCA05-76D0-E5DF-F048-961DD7B21089}"/>
              </a:ext>
            </a:extLst>
          </p:cNvPr>
          <p:cNvPicPr>
            <a:picLocks noChangeAspect="1"/>
          </p:cNvPicPr>
          <p:nvPr/>
        </p:nvPicPr>
        <p:blipFill>
          <a:blip r:embed="rId2"/>
          <a:stretch>
            <a:fillRect/>
          </a:stretch>
        </p:blipFill>
        <p:spPr>
          <a:xfrm>
            <a:off x="385010" y="336884"/>
            <a:ext cx="7365056" cy="4899259"/>
          </a:xfrm>
          <a:prstGeom prst="rect">
            <a:avLst/>
          </a:prstGeom>
        </p:spPr>
      </p:pic>
      <p:sp>
        <p:nvSpPr>
          <p:cNvPr id="4" name="TextBox 3">
            <a:extLst>
              <a:ext uri="{FF2B5EF4-FFF2-40B4-BE49-F238E27FC236}">
                <a16:creationId xmlns:a16="http://schemas.microsoft.com/office/drawing/2014/main" id="{6733D3CE-2D45-3C5F-D36B-76B135A39B89}"/>
              </a:ext>
            </a:extLst>
          </p:cNvPr>
          <p:cNvSpPr txBox="1"/>
          <p:nvPr/>
        </p:nvSpPr>
        <p:spPr>
          <a:xfrm>
            <a:off x="5717406" y="3758815"/>
            <a:ext cx="6294922" cy="1477328"/>
          </a:xfrm>
          <a:prstGeom prst="rect">
            <a:avLst/>
          </a:prstGeom>
          <a:noFill/>
        </p:spPr>
        <p:txBody>
          <a:bodyPr wrap="square" rtlCol="0">
            <a:spAutoFit/>
          </a:bodyPr>
          <a:lstStyle/>
          <a:p>
            <a:r>
              <a:rPr lang="en-US" dirty="0"/>
              <a:t>Pivot column – most negative entries in Z row</a:t>
            </a:r>
          </a:p>
          <a:p>
            <a:r>
              <a:rPr lang="en-US" dirty="0"/>
              <a:t>Pivot row – positive smallest ratio in pivot column and RHS</a:t>
            </a:r>
          </a:p>
          <a:p>
            <a:r>
              <a:rPr lang="en-US" dirty="0"/>
              <a:t>Pivot – intersection </a:t>
            </a:r>
            <a:r>
              <a:rPr lang="en-US"/>
              <a:t>between </a:t>
            </a:r>
            <a:r>
              <a:rPr lang="en-US" dirty="0"/>
              <a:t>p</a:t>
            </a:r>
            <a:r>
              <a:rPr lang="en-US"/>
              <a:t>ivot </a:t>
            </a:r>
            <a:r>
              <a:rPr lang="en-US" dirty="0"/>
              <a:t>column and pivot row</a:t>
            </a:r>
          </a:p>
          <a:p>
            <a:r>
              <a:rPr lang="en-US" dirty="0"/>
              <a:t>Pivotal elimination – multiply 1/k ( where k is pivot) to the entries in pivot row </a:t>
            </a:r>
            <a:endParaRPr lang="en-PH" dirty="0"/>
          </a:p>
        </p:txBody>
      </p:sp>
      <p:pic>
        <p:nvPicPr>
          <p:cNvPr id="6" name="Picture 5">
            <a:extLst>
              <a:ext uri="{FF2B5EF4-FFF2-40B4-BE49-F238E27FC236}">
                <a16:creationId xmlns:a16="http://schemas.microsoft.com/office/drawing/2014/main" id="{DC015C11-1A94-6C76-DFE1-A65BC7B106F8}"/>
              </a:ext>
            </a:extLst>
          </p:cNvPr>
          <p:cNvPicPr>
            <a:picLocks noChangeAspect="1"/>
          </p:cNvPicPr>
          <p:nvPr/>
        </p:nvPicPr>
        <p:blipFill>
          <a:blip r:embed="rId3"/>
          <a:stretch>
            <a:fillRect/>
          </a:stretch>
        </p:blipFill>
        <p:spPr>
          <a:xfrm>
            <a:off x="3412019" y="5444641"/>
            <a:ext cx="7697274" cy="1076475"/>
          </a:xfrm>
          <a:prstGeom prst="rect">
            <a:avLst/>
          </a:prstGeom>
        </p:spPr>
      </p:pic>
    </p:spTree>
    <p:extLst>
      <p:ext uri="{BB962C8B-B14F-4D97-AF65-F5344CB8AC3E}">
        <p14:creationId xmlns:p14="http://schemas.microsoft.com/office/powerpoint/2010/main" val="670802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747219-A10A-14BB-C92C-B890093935E9}"/>
              </a:ext>
            </a:extLst>
          </p:cNvPr>
          <p:cNvPicPr>
            <a:picLocks noChangeAspect="1"/>
          </p:cNvPicPr>
          <p:nvPr/>
        </p:nvPicPr>
        <p:blipFill>
          <a:blip r:embed="rId2"/>
          <a:stretch>
            <a:fillRect/>
          </a:stretch>
        </p:blipFill>
        <p:spPr>
          <a:xfrm>
            <a:off x="1104203" y="709233"/>
            <a:ext cx="9983593" cy="5653066"/>
          </a:xfrm>
          <a:prstGeom prst="rect">
            <a:avLst/>
          </a:prstGeom>
        </p:spPr>
      </p:pic>
    </p:spTree>
    <p:extLst>
      <p:ext uri="{BB962C8B-B14F-4D97-AF65-F5344CB8AC3E}">
        <p14:creationId xmlns:p14="http://schemas.microsoft.com/office/powerpoint/2010/main" val="2669239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3F9BD1-4842-1AD2-96BE-559B6B1CE489}"/>
              </a:ext>
            </a:extLst>
          </p:cNvPr>
          <p:cNvPicPr>
            <a:picLocks noChangeAspect="1"/>
          </p:cNvPicPr>
          <p:nvPr/>
        </p:nvPicPr>
        <p:blipFill>
          <a:blip r:embed="rId2"/>
          <a:stretch>
            <a:fillRect/>
          </a:stretch>
        </p:blipFill>
        <p:spPr>
          <a:xfrm>
            <a:off x="1004897" y="384349"/>
            <a:ext cx="8468907" cy="5896798"/>
          </a:xfrm>
          <a:prstGeom prst="rect">
            <a:avLst/>
          </a:prstGeom>
        </p:spPr>
      </p:pic>
    </p:spTree>
    <p:extLst>
      <p:ext uri="{BB962C8B-B14F-4D97-AF65-F5344CB8AC3E}">
        <p14:creationId xmlns:p14="http://schemas.microsoft.com/office/powerpoint/2010/main" val="580485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983C39-0444-D269-EEC5-36A6F80E972E}"/>
              </a:ext>
            </a:extLst>
          </p:cNvPr>
          <p:cNvPicPr>
            <a:picLocks noChangeAspect="1"/>
          </p:cNvPicPr>
          <p:nvPr/>
        </p:nvPicPr>
        <p:blipFill>
          <a:blip r:embed="rId2"/>
          <a:stretch>
            <a:fillRect/>
          </a:stretch>
        </p:blipFill>
        <p:spPr>
          <a:xfrm>
            <a:off x="1831088" y="127038"/>
            <a:ext cx="8164064" cy="6392167"/>
          </a:xfrm>
          <a:prstGeom prst="rect">
            <a:avLst/>
          </a:prstGeom>
        </p:spPr>
      </p:pic>
    </p:spTree>
    <p:extLst>
      <p:ext uri="{BB962C8B-B14F-4D97-AF65-F5344CB8AC3E}">
        <p14:creationId xmlns:p14="http://schemas.microsoft.com/office/powerpoint/2010/main" val="3117459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9E06AC-828E-DD1E-FB63-19DEBD9D2009}"/>
              </a:ext>
            </a:extLst>
          </p:cNvPr>
          <p:cNvPicPr>
            <a:picLocks noChangeAspect="1"/>
          </p:cNvPicPr>
          <p:nvPr/>
        </p:nvPicPr>
        <p:blipFill>
          <a:blip r:embed="rId2"/>
          <a:stretch>
            <a:fillRect/>
          </a:stretch>
        </p:blipFill>
        <p:spPr>
          <a:xfrm>
            <a:off x="2133047" y="840537"/>
            <a:ext cx="7925906" cy="4607362"/>
          </a:xfrm>
          <a:prstGeom prst="rect">
            <a:avLst/>
          </a:prstGeom>
        </p:spPr>
      </p:pic>
    </p:spTree>
    <p:extLst>
      <p:ext uri="{BB962C8B-B14F-4D97-AF65-F5344CB8AC3E}">
        <p14:creationId xmlns:p14="http://schemas.microsoft.com/office/powerpoint/2010/main" val="2687003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AD8D3C-712C-DEDA-4829-F0374C774225}"/>
              </a:ext>
            </a:extLst>
          </p:cNvPr>
          <p:cNvPicPr>
            <a:picLocks noChangeAspect="1"/>
          </p:cNvPicPr>
          <p:nvPr/>
        </p:nvPicPr>
        <p:blipFill>
          <a:blip r:embed="rId2"/>
          <a:stretch>
            <a:fillRect/>
          </a:stretch>
        </p:blipFill>
        <p:spPr>
          <a:xfrm>
            <a:off x="1405288" y="94784"/>
            <a:ext cx="8653665" cy="6668431"/>
          </a:xfrm>
          <a:prstGeom prst="rect">
            <a:avLst/>
          </a:prstGeom>
        </p:spPr>
      </p:pic>
    </p:spTree>
    <p:extLst>
      <p:ext uri="{BB962C8B-B14F-4D97-AF65-F5344CB8AC3E}">
        <p14:creationId xmlns:p14="http://schemas.microsoft.com/office/powerpoint/2010/main" val="3372551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9A2550D-AF8D-BF63-09D1-96283AC0FEA0}"/>
                  </a:ext>
                </a:extLst>
              </p:cNvPr>
              <p:cNvSpPr txBox="1"/>
              <p:nvPr/>
            </p:nvSpPr>
            <p:spPr>
              <a:xfrm rot="10800000" flipV="1">
                <a:off x="1597794" y="407385"/>
                <a:ext cx="7921591" cy="3539430"/>
              </a:xfrm>
              <a:prstGeom prst="rect">
                <a:avLst/>
              </a:prstGeom>
              <a:noFill/>
            </p:spPr>
            <p:txBody>
              <a:bodyPr wrap="square" rtlCol="0">
                <a:spAutoFit/>
              </a:bodyPr>
              <a:lstStyle/>
              <a:p>
                <a:r>
                  <a:rPr lang="en-PH" sz="3200" dirty="0"/>
                  <a:t>Solve using simplex method</a:t>
                </a:r>
              </a:p>
              <a:p>
                <a:endParaRPr lang="en-PH" sz="3200" dirty="0"/>
              </a:p>
              <a:p>
                <a:r>
                  <a:rPr lang="en-PH" sz="3200"/>
                  <a:t>                max </a:t>
                </a:r>
                <a:r>
                  <a:rPr lang="en-PH" sz="3200" dirty="0"/>
                  <a:t>z = 150 x = 190 y</a:t>
                </a:r>
              </a:p>
              <a:p>
                <a:endParaRPr lang="en-PH" sz="3200" dirty="0"/>
              </a:p>
              <a:p>
                <a:r>
                  <a:rPr lang="en-PH" sz="3200" dirty="0"/>
                  <a:t>   S.T.C </a:t>
                </a:r>
              </a:p>
              <a:p>
                <a:r>
                  <a:rPr lang="en-PH" sz="3200" dirty="0"/>
                  <a:t>		10 x +  15 y </a:t>
                </a:r>
                <a14:m>
                  <m:oMath xmlns:m="http://schemas.openxmlformats.org/officeDocument/2006/math">
                    <m:r>
                      <a:rPr lang="en-PH" sz="3200" i="1" smtClean="0">
                        <a:latin typeface="Cambria Math" panose="02040503050406030204" pitchFamily="18" charset="0"/>
                        <a:ea typeface="Cambria Math" panose="02040503050406030204" pitchFamily="18" charset="0"/>
                      </a:rPr>
                      <m:t>≤</m:t>
                    </m:r>
                    <m:r>
                      <a:rPr lang="en-PH" sz="3200" b="0" i="1" smtClean="0">
                        <a:latin typeface="Cambria Math" panose="02040503050406030204" pitchFamily="18" charset="0"/>
                        <a:ea typeface="Cambria Math" panose="02040503050406030204" pitchFamily="18" charset="0"/>
                      </a:rPr>
                      <m:t>60</m:t>
                    </m:r>
                  </m:oMath>
                </a14:m>
                <a:endParaRPr lang="en-PH" sz="3200" b="0" dirty="0">
                  <a:ea typeface="Cambria Math" panose="02040503050406030204" pitchFamily="18" charset="0"/>
                </a:endParaRPr>
              </a:p>
              <a:p>
                <a:r>
                  <a:rPr lang="en-PH" sz="3200" dirty="0"/>
                  <a:t>		15 x + 45 y </a:t>
                </a:r>
                <a14:m>
                  <m:oMath xmlns:m="http://schemas.openxmlformats.org/officeDocument/2006/math">
                    <m:r>
                      <a:rPr lang="en-PH" sz="3200" i="1" smtClean="0">
                        <a:latin typeface="Cambria Math" panose="02040503050406030204" pitchFamily="18" charset="0"/>
                        <a:ea typeface="Cambria Math" panose="02040503050406030204" pitchFamily="18" charset="0"/>
                      </a:rPr>
                      <m:t>≤</m:t>
                    </m:r>
                  </m:oMath>
                </a14:m>
                <a:r>
                  <a:rPr lang="en-PH" sz="3200" dirty="0"/>
                  <a:t> 135</a:t>
                </a:r>
              </a:p>
            </p:txBody>
          </p:sp>
        </mc:Choice>
        <mc:Fallback xmlns="">
          <p:sp>
            <p:nvSpPr>
              <p:cNvPr id="2" name="TextBox 1">
                <a:extLst>
                  <a:ext uri="{FF2B5EF4-FFF2-40B4-BE49-F238E27FC236}">
                    <a16:creationId xmlns:a16="http://schemas.microsoft.com/office/drawing/2014/main" id="{A9A2550D-AF8D-BF63-09D1-96283AC0FEA0}"/>
                  </a:ext>
                </a:extLst>
              </p:cNvPr>
              <p:cNvSpPr txBox="1">
                <a:spLocks noRot="1" noChangeAspect="1" noMove="1" noResize="1" noEditPoints="1" noAdjustHandles="1" noChangeArrowheads="1" noChangeShapeType="1" noTextEdit="1"/>
              </p:cNvSpPr>
              <p:nvPr/>
            </p:nvSpPr>
            <p:spPr>
              <a:xfrm rot="10800000" flipV="1">
                <a:off x="1597794" y="407385"/>
                <a:ext cx="7921591" cy="3539430"/>
              </a:xfrm>
              <a:prstGeom prst="rect">
                <a:avLst/>
              </a:prstGeom>
              <a:blipFill>
                <a:blip r:embed="rId2"/>
                <a:stretch>
                  <a:fillRect l="-1923" t="-2069" b="-5000"/>
                </a:stretch>
              </a:blipFill>
            </p:spPr>
            <p:txBody>
              <a:bodyPr/>
              <a:lstStyle/>
              <a:p>
                <a:r>
                  <a:rPr lang="en-PH">
                    <a:noFill/>
                  </a:rPr>
                  <a:t> </a:t>
                </a:r>
              </a:p>
            </p:txBody>
          </p:sp>
        </mc:Fallback>
      </mc:AlternateContent>
    </p:spTree>
    <p:extLst>
      <p:ext uri="{BB962C8B-B14F-4D97-AF65-F5344CB8AC3E}">
        <p14:creationId xmlns:p14="http://schemas.microsoft.com/office/powerpoint/2010/main" val="3441388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1067</TotalTime>
  <Words>831</Words>
  <Application>Microsoft Office PowerPoint</Application>
  <PresentationFormat>Widescreen</PresentationFormat>
  <Paragraphs>29</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1. Bob builds two types of sheds. He  uses 10 sheets of dry wall and 15 studs for small shed, and 15 sheets of dry wall and 45 studs for large shed. He has available 60sheds of dry wall and 135 studs . If Bob makes $390 profit on a small shed and $520 on large shed, how many of each type of building should bob build to maximize his profit?</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ACER</cp:lastModifiedBy>
  <cp:revision>12</cp:revision>
  <dcterms:created xsi:type="dcterms:W3CDTF">2025-09-22T23:32:31Z</dcterms:created>
  <dcterms:modified xsi:type="dcterms:W3CDTF">2025-10-14T07:54:12Z</dcterms:modified>
</cp:coreProperties>
</file>